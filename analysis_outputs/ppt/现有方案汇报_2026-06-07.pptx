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Microsoft YaHei"/>
              </a:defRPr>
            </a:pPr>
            <a:r>
              <a:t>RF 频谱异常检测现有方案</a:t>
            </a:r>
          </a:p>
          <a:p>
            <a:pPr>
              <a:defRPr sz="1100">
                <a:solidFill>
                  <a:srgbClr val="5F5F5F"/>
                </a:solidFill>
                <a:latin typeface="Microsoft YaHei"/>
              </a:defRPr>
            </a:pPr>
            <a:r>
              <a:t>先整体，再局部：任务、原理、改动位置、三个特征、三组结果。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3474720" cy="1325880"/>
          </a:xfrm>
          <a:prstGeom prst="roundRect">
            <a:avLst/>
          </a:prstGeom>
          <a:solidFill>
            <a:srgbClr val="EEF4F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5F5F"/>
                </a:solidFill>
                <a:latin typeface="Microsoft YaHei"/>
              </a:defRPr>
            </a:pPr>
            <a:r>
              <a:t>自测主实验三类平均</a:t>
            </a:r>
          </a:p>
          <a:p>
            <a:pPr>
              <a:defRPr sz="2200" b="1">
                <a:solidFill>
                  <a:srgbClr val="3465A4"/>
                </a:solidFill>
                <a:latin typeface="Microsoft YaHei"/>
              </a:defRPr>
            </a:pPr>
            <a:r>
              <a:t>+3.15</a:t>
            </a:r>
          </a:p>
          <a:p>
            <a:pPr>
              <a:defRPr sz="1000">
                <a:solidFill>
                  <a:srgbClr val="5F5F5F"/>
                </a:solidFill>
                <a:latin typeface="Microsoft YaHei"/>
              </a:defRPr>
            </a:pPr>
            <a:r>
              <a:t>87.42 -&gt; 90.57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051560"/>
            <a:ext cx="3474720" cy="1325880"/>
          </a:xfrm>
          <a:prstGeom prst="roundRect">
            <a:avLst/>
          </a:prstGeom>
          <a:solidFill>
            <a:srgbClr val="F0F7F0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5F5F"/>
                </a:solidFill>
                <a:latin typeface="Microsoft YaHei"/>
              </a:defRPr>
            </a:pPr>
            <a:r>
              <a:t>公开 RF 九条总体均值</a:t>
            </a:r>
          </a:p>
          <a:p>
            <a:pPr>
              <a:defRPr sz="2200" b="1">
                <a:solidFill>
                  <a:srgbClr val="408A51"/>
                </a:solidFill>
                <a:latin typeface="Microsoft YaHei"/>
              </a:defRPr>
            </a:pPr>
            <a:r>
              <a:t>+2.11</a:t>
            </a:r>
          </a:p>
          <a:p>
            <a:pPr>
              <a:defRPr sz="1000">
                <a:solidFill>
                  <a:srgbClr val="5F5F5F"/>
                </a:solidFill>
                <a:latin typeface="Microsoft YaHei"/>
              </a:defRPr>
            </a:pPr>
            <a:r>
              <a:t>78.27 -&gt; 80.37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051560"/>
            <a:ext cx="3474720" cy="1325880"/>
          </a:xfrm>
          <a:prstGeom prst="roundRect">
            <a:avLst/>
          </a:prstGeom>
          <a:solidFill>
            <a:srgbClr val="FAF2E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5F5F"/>
                </a:solidFill>
                <a:latin typeface="Microsoft YaHei"/>
              </a:defRPr>
            </a:pPr>
            <a:r>
              <a:t>spectrum 四类平均</a:t>
            </a:r>
          </a:p>
          <a:p>
            <a:pPr>
              <a:defRPr sz="2200" b="1">
                <a:solidFill>
                  <a:srgbClr val="D87A22"/>
                </a:solidFill>
                <a:latin typeface="Microsoft YaHei"/>
              </a:defRPr>
            </a:pPr>
            <a:r>
              <a:t>+1.395</a:t>
            </a:r>
          </a:p>
          <a:p>
            <a:pPr>
              <a:defRPr sz="1000">
                <a:solidFill>
                  <a:srgbClr val="5F5F5F"/>
                </a:solidFill>
                <a:latin typeface="Microsoft YaHei"/>
              </a:defRPr>
            </a:pPr>
            <a:r>
              <a:t>95.58 -&gt; 96.98</a:t>
            </a:r>
          </a:p>
        </p:txBody>
      </p:sp>
      <p:pic>
        <p:nvPicPr>
          <p:cNvPr id="6" name="Picture 5" descr="contribution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5176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Microsoft YaHei"/>
              </a:defRPr>
            </a:pPr>
            <a:r>
              <a:t>任务与异常类型：先理解要检测什么</a:t>
            </a:r>
          </a:p>
        </p:txBody>
      </p:sp>
      <p:pic>
        <p:nvPicPr>
          <p:cNvPr id="3" name="Picture 2" descr="task_overview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6400800" cy="348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23760" y="105156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1E1E"/>
                </a:solidFill>
                <a:latin typeface="Microsoft YaHei"/>
              </a:defRPr>
            </a:pPr>
            <a:r>
              <a:t>Burst anomaly</a:t>
            </a:r>
          </a:p>
          <a:p>
            <a:pPr lvl="1"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时间局部突发，常表现为短时高能条纹或块状抬升</a:t>
            </a:r>
          </a:p>
          <a:p>
            <a:pPr>
              <a:defRPr sz="1500" b="1">
                <a:solidFill>
                  <a:srgbClr val="1E1E1E"/>
                </a:solidFill>
                <a:latin typeface="Microsoft YaHei"/>
              </a:defRPr>
            </a:pPr>
            <a:r>
              <a:t>Chirp anomaly</a:t>
            </a:r>
          </a:p>
          <a:p>
            <a:pPr lvl="1"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具有斜向扫频轨迹，方向性强，整体结构明显</a:t>
            </a:r>
          </a:p>
          <a:p>
            <a:pPr>
              <a:defRPr sz="1500" b="1">
                <a:solidFill>
                  <a:srgbClr val="1E1E1E"/>
                </a:solidFill>
                <a:latin typeface="Microsoft YaHei"/>
              </a:defRPr>
            </a:pPr>
            <a:r>
              <a:t>DSSS anomaly</a:t>
            </a:r>
          </a:p>
          <a:p>
            <a:pPr lvl="1"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更像扩频纹理或宽带内部结构变化，依赖纹理统计差异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目标是在不知道异常类型的前提下完成图像级异常检测。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Microsoft YaHei"/>
              </a:defRPr>
            </a:pPr>
            <a:r>
              <a:t>整体先看：PromptAD 判别原理</a:t>
            </a:r>
          </a:p>
        </p:txBody>
      </p:sp>
      <p:pic>
        <p:nvPicPr>
          <p:cNvPr id="3" name="Picture 2" descr="promptad_principle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11155680" cy="61214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图像特征分别与 normal / abnormal 文本原型对齐，再由相似度差异得到 anomaly score。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Microsoft YaHei"/>
              </a:defRPr>
            </a:pPr>
            <a:r>
              <a:t>第一处改动：文本语义从通用缺陷转向 RF 异常</a:t>
            </a:r>
          </a:p>
        </p:txBody>
      </p:sp>
      <p:pic>
        <p:nvPicPr>
          <p:cNvPr id="3" name="Picture 2" descr="rf_prompt_adaptation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0881360" cy="61240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把 abnormal prompt 从 defect / damage 一类词，改成异常能量、干扰和异常时频结构的描述。</a:t>
            </a:r>
          </a:p>
          <a:p>
            <a:pPr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这样文本原型表达的就不再是物体缺陷，而是频谱图真正需要的异常语义。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Microsoft YaHei"/>
              </a:defRPr>
            </a:pPr>
            <a:r>
              <a:t>第二处改动：图像侧和文本侧分别在哪里改</a:t>
            </a:r>
          </a:p>
        </p:txBody>
      </p:sp>
      <p:pic>
        <p:nvPicPr>
          <p:cNvPr id="3" name="Picture 2" descr="where_we_modify_prompta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11338560" cy="63813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蓝色是输入端改动，橙色是 prompt 改动；主干判别框架保持不变。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Microsoft YaHei"/>
              </a:defRPr>
            </a:pPr>
            <a:r>
              <a:t>三个输入通道总览：一个看结构，一个看背景偏离，一个保真</a:t>
            </a:r>
          </a:p>
        </p:txBody>
      </p:sp>
      <p:pic>
        <p:nvPicPr>
          <p:cNvPr id="3" name="Picture 2" descr="gray_residual_feature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11338560" cy="6803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gray_contrast：增强弱结构可见度</a:t>
            </a:r>
          </a:p>
          <a:p>
            <a:pPr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weak_residual(alpha=0.1)：强调相对背景偏离</a:t>
            </a:r>
          </a:p>
          <a:p>
            <a:pPr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original_gray：保留原始能量分布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Microsoft YaHei"/>
              </a:defRPr>
            </a:pPr>
            <a:r>
              <a:t>局部分析 1：gray_contrast 是怎么做的</a:t>
            </a:r>
          </a:p>
        </p:txBody>
      </p:sp>
      <p:pic>
        <p:nvPicPr>
          <p:cNvPr id="3" name="Picture 2" descr="gray_contras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8138160" cy="443077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41080" y="1005840"/>
            <a:ext cx="2834640" cy="960120"/>
          </a:xfrm>
          <a:prstGeom prst="roundRect">
            <a:avLst/>
          </a:prstGeom>
          <a:solidFill>
            <a:srgbClr val="EEF4F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5F5F"/>
                </a:solidFill>
                <a:latin typeface="Microsoft YaHei"/>
              </a:defRPr>
            </a:pPr>
            <a:r>
              <a:t>算法</a:t>
            </a:r>
          </a:p>
          <a:p>
            <a:pPr>
              <a:defRPr sz="2200" b="1">
                <a:solidFill>
                  <a:srgbClr val="3465A4"/>
                </a:solidFill>
                <a:latin typeface="Microsoft YaHei"/>
              </a:defRPr>
            </a:pPr>
            <a:r>
              <a:t>CLAHE</a:t>
            </a:r>
          </a:p>
          <a:p>
            <a:pPr>
              <a:defRPr sz="1000">
                <a:solidFill>
                  <a:srgbClr val="5F5F5F"/>
                </a:solidFill>
                <a:latin typeface="Microsoft YaHei"/>
              </a:defRPr>
            </a:pPr>
            <a:r>
              <a:t>局部对比度增强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2148840"/>
            <a:ext cx="2834640" cy="960120"/>
          </a:xfrm>
          <a:prstGeom prst="roundRect">
            <a:avLst/>
          </a:prstGeom>
          <a:solidFill>
            <a:srgbClr val="EEF4F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5F5F"/>
                </a:solidFill>
                <a:latin typeface="Microsoft YaHei"/>
              </a:defRPr>
            </a:pPr>
            <a:r>
              <a:t>参数</a:t>
            </a:r>
          </a:p>
          <a:p>
            <a:pPr>
              <a:defRPr sz="2200" b="1">
                <a:solidFill>
                  <a:srgbClr val="3465A4"/>
                </a:solidFill>
                <a:latin typeface="Microsoft YaHei"/>
              </a:defRPr>
            </a:pPr>
            <a:r>
              <a:t>clipLimit = 2.0</a:t>
            </a:r>
          </a:p>
          <a:p>
            <a:pPr>
              <a:defRPr sz="1000">
                <a:solidFill>
                  <a:srgbClr val="5F5F5F"/>
                </a:solidFill>
                <a:latin typeface="Microsoft YaHei"/>
              </a:defRPr>
            </a:pPr>
            <a:r>
              <a:t>tileGridSize = (8,8)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1080" y="34290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公式：I_contrast = CLAHE(I_gray; clipLimit=2.0, tileGridSize=8×8)</a:t>
            </a:r>
          </a:p>
          <a:p>
            <a:pPr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作用：在不破坏整体能量布局的前提下，提升弱结构、细条纹和低对比度边缘。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Microsoft YaHei"/>
              </a:defRPr>
            </a:pPr>
            <a:r>
              <a:t>局部分析 2：weak_residual(alpha=0.1) 是怎么做的</a:t>
            </a:r>
          </a:p>
        </p:txBody>
      </p:sp>
      <p:pic>
        <p:nvPicPr>
          <p:cNvPr id="3" name="Picture 2" descr="weak_residual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8138160" cy="443077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41080" y="1005840"/>
            <a:ext cx="2834640" cy="960120"/>
          </a:xfrm>
          <a:prstGeom prst="roundRect">
            <a:avLst/>
          </a:prstGeom>
          <a:solidFill>
            <a:srgbClr val="F0F7F0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5F5F"/>
                </a:solidFill>
                <a:latin typeface="Microsoft YaHei"/>
              </a:defRPr>
            </a:pPr>
            <a:r>
              <a:t>背景估计</a:t>
            </a:r>
          </a:p>
          <a:p>
            <a:pPr>
              <a:defRPr sz="2200" b="1">
                <a:solidFill>
                  <a:srgbClr val="408A51"/>
                </a:solidFill>
                <a:latin typeface="Microsoft YaHei"/>
              </a:defRPr>
            </a:pPr>
            <a:r>
              <a:t>逐频率行中位数</a:t>
            </a:r>
          </a:p>
          <a:p>
            <a:pPr>
              <a:defRPr sz="1000">
                <a:solidFill>
                  <a:srgbClr val="5F5F5F"/>
                </a:solidFill>
                <a:latin typeface="Microsoft YaHei"/>
              </a:defRPr>
            </a:pPr>
            <a:r>
              <a:t>B(f)=median_t I_gray(f,t)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2148840"/>
            <a:ext cx="2834640" cy="960120"/>
          </a:xfrm>
          <a:prstGeom prst="roundRect">
            <a:avLst/>
          </a:prstGeom>
          <a:solidFill>
            <a:srgbClr val="F0F7F0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5F5F"/>
                </a:solidFill>
                <a:latin typeface="Microsoft YaHei"/>
              </a:defRPr>
            </a:pPr>
            <a:r>
              <a:t>参数</a:t>
            </a:r>
          </a:p>
          <a:p>
            <a:pPr>
              <a:defRPr sz="2200" b="1">
                <a:solidFill>
                  <a:srgbClr val="408A51"/>
                </a:solidFill>
                <a:latin typeface="Microsoft YaHei"/>
              </a:defRPr>
            </a:pPr>
            <a:r>
              <a:t>alpha = 0.1</a:t>
            </a:r>
          </a:p>
          <a:p>
            <a:pPr>
              <a:defRPr sz="1000">
                <a:solidFill>
                  <a:srgbClr val="5F5F5F"/>
                </a:solidFill>
                <a:latin typeface="Microsoft YaHei"/>
              </a:defRPr>
            </a:pPr>
            <a:r>
              <a:t>输出做 min-max 归一化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1080" y="333756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公式：R(f,t)=|I_gray(f,t)-B(f)|</a:t>
            </a:r>
          </a:p>
          <a:p>
            <a:pPr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公式：I_res(f,t)=Normalize(I_gray(f,t)+0.1·R(f,t))</a:t>
            </a:r>
          </a:p>
          <a:p>
            <a:pPr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作用：突出相对稳定背景的偏离，同时避免把噪声放大得过强。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Microsoft YaHei"/>
              </a:defRPr>
            </a:pPr>
            <a:r>
              <a:t>局部分析 3：original_gray 为什么必须保留</a:t>
            </a:r>
          </a:p>
        </p:txBody>
      </p:sp>
      <p:pic>
        <p:nvPicPr>
          <p:cNvPr id="3" name="Picture 2" descr="original_gray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8138160" cy="443077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41080" y="1005840"/>
            <a:ext cx="2834640" cy="960120"/>
          </a:xfrm>
          <a:prstGeom prst="roundRect">
            <a:avLst/>
          </a:prstGeom>
          <a:solidFill>
            <a:srgbClr val="FAF2E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5F5F"/>
                </a:solidFill>
                <a:latin typeface="Microsoft YaHei"/>
              </a:defRPr>
            </a:pPr>
            <a:r>
              <a:t>算法</a:t>
            </a:r>
          </a:p>
          <a:p>
            <a:pPr>
              <a:defRPr sz="2200" b="1">
                <a:solidFill>
                  <a:srgbClr val="D87A22"/>
                </a:solidFill>
                <a:latin typeface="Microsoft YaHei"/>
              </a:defRPr>
            </a:pPr>
            <a:r>
              <a:t>灰度化后直接保留</a:t>
            </a:r>
          </a:p>
          <a:p>
            <a:pPr>
              <a:defRPr sz="1000">
                <a:solidFill>
                  <a:srgbClr val="5F5F5F"/>
                </a:solidFill>
                <a:latin typeface="Microsoft YaHei"/>
              </a:defRPr>
            </a:pPr>
            <a:r>
              <a:t>不做额外增强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2148840"/>
            <a:ext cx="2834640" cy="960120"/>
          </a:xfrm>
          <a:prstGeom prst="roundRect">
            <a:avLst/>
          </a:prstGeom>
          <a:solidFill>
            <a:srgbClr val="FAF2E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5F5F"/>
                </a:solidFill>
                <a:latin typeface="Microsoft YaHei"/>
              </a:defRPr>
            </a:pPr>
            <a:r>
              <a:t>参数</a:t>
            </a:r>
          </a:p>
          <a:p>
            <a:pPr>
              <a:defRPr sz="2200" b="1">
                <a:solidFill>
                  <a:srgbClr val="D87A22"/>
                </a:solidFill>
                <a:latin typeface="Microsoft YaHei"/>
              </a:defRPr>
            </a:pPr>
            <a:r>
              <a:t>无额外超参数</a:t>
            </a:r>
          </a:p>
          <a:p>
            <a:pPr>
              <a:defRPr sz="1000">
                <a:solidFill>
                  <a:srgbClr val="5F5F5F"/>
                </a:solidFill>
                <a:latin typeface="Microsoft YaHei"/>
              </a:defRPr>
            </a:pPr>
            <a:r>
              <a:t>保留原始强度布局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1080" y="34290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公式：I_gray = Gray(I_rgb)</a:t>
            </a:r>
          </a:p>
          <a:p>
            <a:pPr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作用：防止模型只看增强图，保留真实场景中的能量分布和强弱关系。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Microsoft YaHei"/>
              </a:defRPr>
            </a:pPr>
            <a:r>
              <a:t>结果一：自测主实验整体提升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3291840" cy="1143000"/>
          </a:xfrm>
          <a:prstGeom prst="roundRect">
            <a:avLst/>
          </a:prstGeom>
          <a:solidFill>
            <a:srgbClr val="EEF4F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5F5F"/>
                </a:solidFill>
                <a:latin typeface="Microsoft YaHei"/>
              </a:defRPr>
            </a:pPr>
            <a:r>
              <a:t>三类平均提升</a:t>
            </a:r>
          </a:p>
          <a:p>
            <a:pPr>
              <a:defRPr sz="2200" b="1">
                <a:solidFill>
                  <a:srgbClr val="3465A4"/>
                </a:solidFill>
                <a:latin typeface="Microsoft YaHei"/>
              </a:defRPr>
            </a:pPr>
            <a:r>
              <a:t>+3.15</a:t>
            </a:r>
          </a:p>
          <a:p>
            <a:pPr>
              <a:defRPr sz="1000">
                <a:solidFill>
                  <a:srgbClr val="5F5F5F"/>
                </a:solidFill>
                <a:latin typeface="Microsoft YaHei"/>
              </a:defRPr>
            </a:pPr>
            <a:r>
              <a:t>87.42 -&gt; 90.57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6583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数据集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提升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burst_signal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86.84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+3.23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chirp_signal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78.94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84.98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+6.04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dsss_signal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96.48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96.65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+0.17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87.42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+3.15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35240" y="182880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Microsoft YaHei"/>
              </a:defRPr>
            </a:pPr>
            <a:r>
              <a:t>这组结果最关键，因为它对应当前主实验协议。</a:t>
            </a:r>
          </a:p>
          <a:p>
            <a:pPr>
              <a:defRPr sz="1600">
                <a:solidFill>
                  <a:srgbClr val="1E1E1E"/>
                </a:solidFill>
                <a:latin typeface="Microsoft YaHei"/>
              </a:defRPr>
            </a:pPr>
            <a:r>
              <a:t>重点不是单类偶然上涨，而是在统一方案下三类平均稳定高于原始基线。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Microsoft YaHei"/>
              </a:defRPr>
            </a:pPr>
            <a:r>
              <a:t>结果二：公开 RF 混合难度协议下总体继续提升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3291840" cy="1143000"/>
          </a:xfrm>
          <a:prstGeom prst="roundRect">
            <a:avLst/>
          </a:prstGeom>
          <a:solidFill>
            <a:srgbClr val="F0F7F0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5F5F"/>
                </a:solidFill>
                <a:latin typeface="Microsoft YaHei"/>
              </a:defRPr>
            </a:pPr>
            <a:r>
              <a:t>九条总体均值</a:t>
            </a:r>
          </a:p>
          <a:p>
            <a:pPr>
              <a:defRPr sz="2200" b="1">
                <a:solidFill>
                  <a:srgbClr val="408A51"/>
                </a:solidFill>
                <a:latin typeface="Microsoft YaHei"/>
              </a:defRPr>
            </a:pPr>
            <a:r>
              <a:t>+2.11</a:t>
            </a:r>
          </a:p>
          <a:p>
            <a:pPr>
              <a:defRPr sz="1000">
                <a:solidFill>
                  <a:srgbClr val="5F5F5F"/>
                </a:solidFill>
                <a:latin typeface="Microsoft YaHei"/>
              </a:defRPr>
            </a:pPr>
            <a:r>
              <a:t>78.27 -&gt; 80.37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7680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异常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level1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level2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level3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均值提升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burst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96.88 vs 94.87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88.47 vs 84.29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65.29 vs 62.39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+3.03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chirp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94.16 vs 90.11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71.75 vs 66.14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55.55 vs 54.18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+3.68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dsss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94.99 vs 96.83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84.40 vs 85.80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71.88 vs 69.78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-0.38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41080" y="182880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burst 档位：m30 / m40 / m50</a:t>
            </a:r>
          </a:p>
          <a:p>
            <a:pPr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chirp 档位：m50 / m55 / m60</a:t>
            </a:r>
          </a:p>
          <a:p>
            <a:pPr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dsss 档位：m20 / m30 / m40</a:t>
            </a:r>
          </a:p>
          <a:p>
            <a:pPr>
              <a:defRPr sz="1400">
                <a:solidFill>
                  <a:srgbClr val="1E1E1E"/>
                </a:solidFill>
                <a:latin typeface="Microsoft YaHei"/>
              </a:defRPr>
            </a:pPr>
            <a:r>
              <a:t>说明：在更难协议下，整体均值仍然高于参考方法。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Microsoft YaHei"/>
              </a:defRPr>
            </a:pPr>
            <a:r>
              <a:t>结果三：spectrum 数据集平均继续提升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3291840" cy="1143000"/>
          </a:xfrm>
          <a:prstGeom prst="roundRect">
            <a:avLst/>
          </a:prstGeom>
          <a:solidFill>
            <a:srgbClr val="FAF2E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5F5F"/>
                </a:solidFill>
                <a:latin typeface="Microsoft YaHei"/>
              </a:defRPr>
            </a:pPr>
            <a:r>
              <a:t>四类平均提升</a:t>
            </a:r>
          </a:p>
          <a:p>
            <a:pPr>
              <a:defRPr sz="2200" b="1">
                <a:solidFill>
                  <a:srgbClr val="D87A22"/>
                </a:solidFill>
                <a:latin typeface="Microsoft YaHei"/>
              </a:defRPr>
            </a:pPr>
            <a:r>
              <a:t>+1.395</a:t>
            </a:r>
          </a:p>
          <a:p>
            <a:pPr>
              <a:defRPr sz="1000">
                <a:solidFill>
                  <a:srgbClr val="5F5F5F"/>
                </a:solidFill>
                <a:latin typeface="Microsoft YaHei"/>
              </a:defRPr>
            </a:pPr>
            <a:r>
              <a:t>95.58 -&gt; 96.98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6583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提升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16QAM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98.90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98.48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-0.42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CHIRP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96.99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98.48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+1.49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GMSK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93.58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96.84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+3.26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QPSK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92.85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+1.25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95.58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96.98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+1.395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35240" y="182880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Microsoft YaHei"/>
              </a:defRPr>
            </a:pPr>
            <a:r>
              <a:t>这组结果说明方法不只对一套自测数据有效。</a:t>
            </a:r>
          </a:p>
          <a:p>
            <a:pPr>
              <a:defRPr sz="1600">
                <a:solidFill>
                  <a:srgbClr val="1E1E1E"/>
                </a:solidFill>
                <a:latin typeface="Microsoft YaHei"/>
              </a:defRPr>
            </a:pPr>
            <a:r>
              <a:t>四类平均仍然为正收益，说明改动具有一定普适性。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1E"/>
                </a:solidFill>
                <a:latin typeface="Microsoft YaHei"/>
              </a:defRPr>
            </a:pPr>
            <a:r>
              <a:t>总结：先整体，再局部，最后看三组结果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474720" cy="1143000"/>
          </a:xfrm>
          <a:prstGeom prst="roundRect">
            <a:avLst/>
          </a:prstGeom>
          <a:solidFill>
            <a:srgbClr val="EEF4F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5F5F"/>
                </a:solidFill>
                <a:latin typeface="Microsoft YaHei"/>
              </a:defRPr>
            </a:pPr>
            <a:r>
              <a:t>贡献 1</a:t>
            </a:r>
          </a:p>
          <a:p>
            <a:pPr>
              <a:defRPr sz="2200" b="1">
                <a:solidFill>
                  <a:srgbClr val="3465A4"/>
                </a:solidFill>
                <a:latin typeface="Microsoft YaHei"/>
              </a:defRPr>
            </a:pPr>
            <a:r>
              <a:t>RF prompt adaptation</a:t>
            </a:r>
          </a:p>
          <a:p>
            <a:pPr>
              <a:defRPr sz="1000">
                <a:solidFill>
                  <a:srgbClr val="5F5F5F"/>
                </a:solidFill>
                <a:latin typeface="Microsoft YaHei"/>
              </a:defRPr>
            </a:pPr>
            <a:r>
              <a:t>让文本语义转向 RF 异常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097280"/>
            <a:ext cx="3474720" cy="1143000"/>
          </a:xfrm>
          <a:prstGeom prst="roundRect">
            <a:avLst/>
          </a:prstGeom>
          <a:solidFill>
            <a:srgbClr val="F0F7F0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5F5F"/>
                </a:solidFill>
                <a:latin typeface="Microsoft YaHei"/>
              </a:defRPr>
            </a:pPr>
            <a:r>
              <a:t>贡献 2</a:t>
            </a:r>
          </a:p>
          <a:p>
            <a:pPr>
              <a:defRPr sz="2200" b="1">
                <a:solidFill>
                  <a:srgbClr val="408A51"/>
                </a:solidFill>
                <a:latin typeface="Microsoft YaHei"/>
              </a:defRPr>
            </a:pPr>
            <a:r>
              <a:t>3-channel spectral input</a:t>
            </a:r>
          </a:p>
          <a:p>
            <a:pPr>
              <a:defRPr sz="1000">
                <a:solidFill>
                  <a:srgbClr val="5F5F5F"/>
                </a:solidFill>
                <a:latin typeface="Microsoft YaHei"/>
              </a:defRPr>
            </a:pPr>
            <a:r>
              <a:t>gray_contrast + weak_residual(alpha=0.1) + original_gray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097280"/>
            <a:ext cx="3474720" cy="1143000"/>
          </a:xfrm>
          <a:prstGeom prst="roundRect">
            <a:avLst/>
          </a:prstGeom>
          <a:solidFill>
            <a:srgbClr val="FAF2E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F5F5F"/>
                </a:solidFill>
                <a:latin typeface="Microsoft YaHei"/>
              </a:defRPr>
            </a:pPr>
            <a:r>
              <a:t>总体结果</a:t>
            </a:r>
          </a:p>
          <a:p>
            <a:pPr>
              <a:defRPr sz="2200" b="1">
                <a:solidFill>
                  <a:srgbClr val="D87A22"/>
                </a:solidFill>
                <a:latin typeface="Microsoft YaHei"/>
              </a:defRPr>
            </a:pPr>
            <a:r>
              <a:t>+3.15 / +2.11 / +1.395</a:t>
            </a:r>
          </a:p>
          <a:p>
            <a:pPr>
              <a:defRPr sz="1000">
                <a:solidFill>
                  <a:srgbClr val="5F5F5F"/>
                </a:solidFill>
                <a:latin typeface="Microsoft YaHei"/>
              </a:defRPr>
            </a:pPr>
            <a:r>
              <a:t>自测 / 公开 RF / spectrum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1E1E"/>
                </a:solidFill>
                <a:latin typeface="Microsoft YaHei"/>
              </a:defRPr>
            </a:pPr>
            <a:r>
              <a:t>当前方案的核心，不是单独某一个特征图，而是文本侧语义适配与图像侧结构输入共同起作用。</a:t>
            </a:r>
          </a:p>
          <a:p>
            <a:pPr>
              <a:defRPr sz="1800">
                <a:solidFill>
                  <a:srgbClr val="1E1E1E"/>
                </a:solidFill>
                <a:latin typeface="Microsoft YaHei"/>
              </a:defRPr>
            </a:pPr>
            <a:r>
              <a:t>三组实验的整体均值都高于参考结果，因此这版方案已经可以作为稳定主线。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